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79"/>
    <p:restoredTop sz="94673"/>
  </p:normalViewPr>
  <p:slideViewPr>
    <p:cSldViewPr snapToGrid="0" snapToObjects="1">
      <p:cViewPr varScale="1">
        <p:scale>
          <a:sx n="46" d="100"/>
          <a:sy n="46" d="100"/>
        </p:scale>
        <p:origin x="192" y="1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09F0-57DB-F04B-B38D-1A4740530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078CC-5C14-B24B-8BE2-73914BBA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158AA-6C2F-3B44-ABA4-FF0C4536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61DFD-4CF2-0C43-A428-A403F9694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4885B-ADC0-1F43-B841-11B0A4B1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6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B28C-FF4E-CF49-BCC5-44AC52F5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B4B4D-3ACD-624C-A90E-9DBD36AAD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7B60-EA24-284E-8D58-60352A67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2E21C-E124-D649-A08F-1F33D330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A6147-910C-DE4C-9438-5806AF91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3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EB1E1-8EA7-E344-92DF-F74A8C8F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E1602-B5E4-6F45-B12F-69D8E043E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2742-AE5E-A04E-8244-5331EF9C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A907F-0D49-964F-8302-71CADBFB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4F4B9-09D6-0B4A-A22C-C90C29D0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2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822C-6502-EF43-93B3-2A33A162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28A99-6C20-C448-ABB6-7E3D8D27C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CCA00-7761-4D44-AF92-2ECDE5888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17853-989E-5C4C-840A-3188E8B5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B8D05-3D6F-2742-9B6C-089FEC79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5DD51-4EB9-C547-9C13-C3181BD4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6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2A96-0438-ED4C-B883-0FF16AF8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6F1CC-41A9-414B-BC71-82C26EE04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E9C1E-5A47-AA4E-8CA8-135658929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AC0FBA-45E9-0647-AA11-4DF0D693B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66B15-EB12-9C41-8E58-6DBF6DD76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1B1131-253A-694E-8106-D99611A7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DC490-4841-7143-8EFC-C4677A264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62FEB-F0CC-074E-ACD2-722E795B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1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922D-95E9-EC4F-B66B-2411B7E6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04F02-C442-594D-AEE6-48F7FC20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1A86B-0014-3248-BF4B-76CB3290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53055-7293-7241-8D3E-3C07DBC4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B69AC3-6585-794E-8CE3-D209600C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A5207-C099-2747-96E6-06BA99D3E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CE2B8-CC25-8847-96DD-BF47BBE8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63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6575B-BA82-9744-8C3D-4D931B7CB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246D-230E-7C4F-AEF6-C2C1F4D4D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06475-517A-9F4D-B602-1933B3E06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03D7A-C55E-DC4F-A167-3AC55544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21588-AF0F-B14B-B525-7F7FBEB8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C7907-4A1A-C045-90A4-0FCCA99D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2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43F4-1186-8F46-8100-DC30D917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98AB21-76B6-EF4F-8C09-1C5717575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F3A5F-D28E-AB48-9AD3-3B519A526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42087-69B5-AB40-822E-41F448FE8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D0C87-3BB8-694F-A717-41CA3803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414E1-5083-3945-AFF9-6255FA4D6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2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BEF2-11EC-354A-9507-84DA9EA7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79C03-D0F0-454D-88F9-59D9897C6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EF3AE-EF96-9343-A46C-98441D2B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764BA-C380-BE46-BB13-75B1DCC0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192F7-1953-BD4F-99B4-3C0749E3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44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53FEF-7068-F04F-9BDF-0F521711F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5E156-B701-6B4D-A206-0B3A4C100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F99F1-4F3B-284F-914F-E42BA730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97261-CE0E-4747-9559-9B840F4C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82D23-DBA3-8440-ACBD-784DFD3E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75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79F9C-66A4-0A48-B336-1ECA483A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B69D2-A327-C243-AE22-737A429E0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B0726-F52D-D942-8035-C58F6C2ED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305F9-BF57-334E-85A3-E8CDC699B8C7}" type="datetimeFigureOut">
              <a:rPr lang="en-US" smtClean="0"/>
              <a:t>2/22/20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F4220-1D30-0E42-BF09-0B1AC5456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D504C-0449-C248-92C8-11AA8E580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673EA-72A5-8945-BE45-3E22ED3D8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5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0CE3F2-B19E-6447-B38D-AF0425744C3C}"/>
              </a:ext>
            </a:extLst>
          </p:cNvPr>
          <p:cNvSpPr txBox="1"/>
          <p:nvPr/>
        </p:nvSpPr>
        <p:spPr>
          <a:xfrm>
            <a:off x="381929" y="242638"/>
            <a:ext cx="5307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Source: Kaggle open Datasets </a:t>
            </a:r>
          </a:p>
          <a:p>
            <a:endParaRPr lang="en-US" sz="20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F3AE01-A9DE-EB4D-ACE2-B4E790B5E2A2}"/>
              </a:ext>
            </a:extLst>
          </p:cNvPr>
          <p:cNvSpPr/>
          <p:nvPr/>
        </p:nvSpPr>
        <p:spPr>
          <a:xfrm>
            <a:off x="583580" y="1412189"/>
            <a:ext cx="116084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b="1" dirty="0">
              <a:latin typeface="Inter"/>
            </a:endParaRPr>
          </a:p>
          <a:p>
            <a:pPr fontAlgn="base"/>
            <a:r>
              <a:rPr lang="en-US" sz="2400" b="1" dirty="0">
                <a:latin typeface="Inter"/>
              </a:rPr>
              <a:t>Predictors: 		Target: </a:t>
            </a:r>
            <a:r>
              <a:rPr lang="en-US" dirty="0">
                <a:latin typeface="Inter"/>
              </a:rPr>
              <a:t> </a:t>
            </a:r>
            <a:r>
              <a:rPr lang="en-US" sz="2400" dirty="0">
                <a:latin typeface="Inter"/>
              </a:rPr>
              <a:t>Position </a:t>
            </a:r>
            <a:endParaRPr lang="en-US" dirty="0">
              <a:latin typeface="Inter"/>
            </a:endParaRPr>
          </a:p>
          <a:p>
            <a:pPr fontAlgn="base"/>
            <a:endParaRPr lang="en-US" sz="2400" b="1" dirty="0">
              <a:latin typeface="Inter"/>
            </a:endParaRPr>
          </a:p>
          <a:p>
            <a:pPr fontAlgn="base"/>
            <a:r>
              <a:rPr lang="en-US" sz="2400" b="1" dirty="0">
                <a:latin typeface="Inter"/>
              </a:rPr>
              <a:t>MVP: </a:t>
            </a:r>
            <a:r>
              <a:rPr lang="en-US" sz="2400" dirty="0">
                <a:latin typeface="Inter"/>
              </a:rPr>
              <a:t>rank position or the number of streams a song will have in the future</a:t>
            </a:r>
          </a:p>
          <a:p>
            <a:pPr fontAlgn="base"/>
            <a:endParaRPr lang="en-US" sz="2400" b="1" dirty="0">
              <a:latin typeface="Inter"/>
            </a:endParaRPr>
          </a:p>
          <a:p>
            <a:pPr fontAlgn="base"/>
            <a:r>
              <a:rPr lang="en-US" sz="2400" b="1" i="0" dirty="0">
                <a:effectLst/>
                <a:latin typeface="Inter"/>
              </a:rPr>
              <a:t>Stretch goals :</a:t>
            </a:r>
          </a:p>
          <a:p>
            <a:pPr fontAlgn="base"/>
            <a:r>
              <a:rPr lang="en-US" sz="2400" dirty="0">
                <a:latin typeface="Inter"/>
              </a:rPr>
              <a:t>How long does songs "resist" on the top 3, 5, 10, 20 ranking?</a:t>
            </a:r>
          </a:p>
          <a:p>
            <a:pPr fontAlgn="base"/>
            <a:r>
              <a:rPr lang="en-US" sz="2400" dirty="0">
                <a:latin typeface="Inter"/>
              </a:rPr>
              <a:t>What are the signs of a song that gets into the top rank to stay?</a:t>
            </a:r>
          </a:p>
          <a:p>
            <a:pPr fontAlgn="base"/>
            <a:r>
              <a:rPr lang="en-US" sz="2400" dirty="0">
                <a:latin typeface="Inter"/>
              </a:rPr>
              <a:t>Do continents share same top ranking artists or songs?</a:t>
            </a:r>
          </a:p>
          <a:p>
            <a:pPr fontAlgn="base"/>
            <a:r>
              <a:rPr lang="en-US" sz="2400" dirty="0">
                <a:latin typeface="Inter"/>
              </a:rPr>
              <a:t>Are people listening to the very same top ranking songs on countries far away from each other?</a:t>
            </a:r>
          </a:p>
          <a:p>
            <a:pPr fontAlgn="base"/>
            <a:r>
              <a:rPr lang="en-US" sz="2400" dirty="0">
                <a:latin typeface="Inter"/>
              </a:rPr>
              <a:t>How long time does a top ranking song takes to get into the ranking of neighbor countries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C8894-3BF2-CF45-8DF0-09575BC16181}"/>
              </a:ext>
            </a:extLst>
          </p:cNvPr>
          <p:cNvSpPr txBox="1"/>
          <p:nvPr/>
        </p:nvSpPr>
        <p:spPr>
          <a:xfrm>
            <a:off x="381929" y="888969"/>
            <a:ext cx="8629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Subject1 : Spotify’s  Worldwide Daily Song Ranking </a:t>
            </a:r>
          </a:p>
        </p:txBody>
      </p:sp>
    </p:spTree>
    <p:extLst>
      <p:ext uri="{BB962C8B-B14F-4D97-AF65-F5344CB8AC3E}">
        <p14:creationId xmlns:p14="http://schemas.microsoft.com/office/powerpoint/2010/main" val="387395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EE3D58-FA9D-A44D-A84E-377A4CD63255}"/>
              </a:ext>
            </a:extLst>
          </p:cNvPr>
          <p:cNvSpPr/>
          <p:nvPr/>
        </p:nvSpPr>
        <p:spPr>
          <a:xfrm>
            <a:off x="747053" y="1700252"/>
            <a:ext cx="116084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b="1" dirty="0">
                <a:latin typeface="Inter"/>
              </a:rPr>
              <a:t>Predictors: 		Target: </a:t>
            </a:r>
            <a:r>
              <a:rPr lang="en-US" sz="2000" dirty="0">
                <a:latin typeface="Inter"/>
              </a:rPr>
              <a:t> Category Id (requires mapping to category subject )</a:t>
            </a:r>
          </a:p>
          <a:p>
            <a:pPr fontAlgn="base"/>
            <a:endParaRPr lang="en-US" sz="2000" dirty="0">
              <a:latin typeface="Inter"/>
            </a:endParaRPr>
          </a:p>
          <a:p>
            <a:pPr fontAlgn="base"/>
            <a:r>
              <a:rPr lang="en-US" sz="2800" b="1" dirty="0">
                <a:latin typeface="Inter"/>
              </a:rPr>
              <a:t>MVP: </a:t>
            </a:r>
            <a:r>
              <a:rPr lang="en-US" sz="2800" dirty="0">
                <a:latin typeface="Inter"/>
              </a:rPr>
              <a:t>Categorizing YouTube videos based on their comments and statistics </a:t>
            </a:r>
            <a:endParaRPr lang="en-US" sz="2800" b="1" i="0" dirty="0">
              <a:effectLst/>
              <a:latin typeface="Inter"/>
            </a:endParaRPr>
          </a:p>
          <a:p>
            <a:pPr fontAlgn="base"/>
            <a:endParaRPr lang="en-US" sz="2800" b="1" dirty="0">
              <a:latin typeface="Inter"/>
            </a:endParaRPr>
          </a:p>
          <a:p>
            <a:pPr fontAlgn="base"/>
            <a:r>
              <a:rPr lang="en-US" sz="2800" b="1" dirty="0">
                <a:latin typeface="Inter"/>
              </a:rPr>
              <a:t>Stretch to:</a:t>
            </a:r>
          </a:p>
          <a:p>
            <a:pPr fontAlgn="base"/>
            <a:r>
              <a:rPr lang="en-US" sz="2800" dirty="0">
                <a:latin typeface="Inter"/>
              </a:rPr>
              <a:t>Sentiment analysis in a variety of forms</a:t>
            </a:r>
          </a:p>
          <a:p>
            <a:pPr fontAlgn="base"/>
            <a:r>
              <a:rPr lang="en-US" sz="2800" dirty="0">
                <a:latin typeface="Inter"/>
              </a:rPr>
              <a:t>Analyzing what factors affect how popular a YouTube video will be.</a:t>
            </a:r>
          </a:p>
          <a:p>
            <a:pPr fontAlgn="base"/>
            <a:r>
              <a:rPr lang="en-US" sz="2800" dirty="0">
                <a:latin typeface="Inter"/>
              </a:rPr>
              <a:t>Statistical analysis over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9BCC1-7F6C-DD43-9716-1D929A38CBCD}"/>
              </a:ext>
            </a:extLst>
          </p:cNvPr>
          <p:cNvSpPr txBox="1"/>
          <p:nvPr/>
        </p:nvSpPr>
        <p:spPr>
          <a:xfrm>
            <a:off x="583406" y="805072"/>
            <a:ext cx="8629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Subject 2: Trending YouTube Video Statistics </a:t>
            </a:r>
          </a:p>
        </p:txBody>
      </p:sp>
    </p:spTree>
    <p:extLst>
      <p:ext uri="{BB962C8B-B14F-4D97-AF65-F5344CB8AC3E}">
        <p14:creationId xmlns:p14="http://schemas.microsoft.com/office/powerpoint/2010/main" val="3232875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43D098-F9A1-B04F-A88A-B691512E44D7}"/>
              </a:ext>
            </a:extLst>
          </p:cNvPr>
          <p:cNvSpPr/>
          <p:nvPr/>
        </p:nvSpPr>
        <p:spPr>
          <a:xfrm>
            <a:off x="477865" y="491549"/>
            <a:ext cx="1101929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>
                <a:latin typeface="Inter"/>
              </a:rPr>
              <a:t>How long does songs "resist" on the top 3, 5, 10, 20 ranking? By country </a:t>
            </a:r>
          </a:p>
          <a:p>
            <a:pPr fontAlgn="base"/>
            <a:r>
              <a:rPr lang="en-US" strike="sngStrike" dirty="0">
                <a:latin typeface="Inter"/>
              </a:rPr>
              <a:t>What are the signs of a song that gets into the top rank to stay</a:t>
            </a:r>
            <a:r>
              <a:rPr lang="en-US" dirty="0">
                <a:latin typeface="Inter"/>
              </a:rPr>
              <a:t>? </a:t>
            </a:r>
          </a:p>
          <a:p>
            <a:pPr fontAlgn="base"/>
            <a:r>
              <a:rPr lang="en-US" dirty="0">
                <a:latin typeface="Inter"/>
              </a:rPr>
              <a:t>Do top 10 markets share same top ranking artists or songs?</a:t>
            </a:r>
          </a:p>
          <a:p>
            <a:pPr fontAlgn="base"/>
            <a:r>
              <a:rPr lang="en-US" dirty="0">
                <a:latin typeface="Inter"/>
              </a:rPr>
              <a:t>Are people listening to the very same top ranking songs on countries far away from each other? Show % (same vs others (see if you can break others into 2 brackets of int’s vs local)</a:t>
            </a:r>
          </a:p>
          <a:p>
            <a:pPr fontAlgn="base"/>
            <a:r>
              <a:rPr lang="en-US" strike="sngStrike" dirty="0">
                <a:latin typeface="Inter"/>
              </a:rPr>
              <a:t>How long time does a top ranking song takes to get into the ranking of neighbor countries</a:t>
            </a:r>
          </a:p>
          <a:p>
            <a:pPr fontAlgn="base"/>
            <a:r>
              <a:rPr lang="en-US" dirty="0">
                <a:solidFill>
                  <a:srgbClr val="00B050"/>
                </a:solidFill>
                <a:latin typeface="Inter"/>
              </a:rPr>
              <a:t>Top Artists 2019 </a:t>
            </a:r>
          </a:p>
          <a:p>
            <a:pPr fontAlgn="base"/>
            <a:r>
              <a:rPr lang="en-US" dirty="0">
                <a:solidFill>
                  <a:srgbClr val="00B050"/>
                </a:solidFill>
                <a:latin typeface="Inter"/>
              </a:rPr>
              <a:t>Top Tracks 2019</a:t>
            </a:r>
          </a:p>
          <a:p>
            <a:pPr fontAlgn="base"/>
            <a:r>
              <a:rPr lang="en-US" dirty="0">
                <a:solidFill>
                  <a:srgbClr val="FF0000"/>
                </a:solidFill>
                <a:latin typeface="Inter"/>
              </a:rPr>
              <a:t>Sentiment analysis – based on song’s title and then compare popularity of positive vs negative based on # of streams by country</a:t>
            </a:r>
          </a:p>
          <a:p>
            <a:pPr fontAlgn="base"/>
            <a:r>
              <a:rPr lang="en-US" dirty="0">
                <a:solidFill>
                  <a:srgbClr val="FF0000"/>
                </a:solidFill>
                <a:latin typeface="Inter"/>
              </a:rPr>
              <a:t>See if you can categorize trend for  position 1 to 3 songs (based on the streams fluctuates ) </a:t>
            </a:r>
          </a:p>
          <a:p>
            <a:pPr fontAlgn="base"/>
            <a:endParaRPr lang="en-US" dirty="0">
              <a:latin typeface="Inter"/>
            </a:endParaRPr>
          </a:p>
          <a:p>
            <a:pPr fontAlgn="base"/>
            <a:r>
              <a:rPr lang="en-US" dirty="0">
                <a:latin typeface="Inter"/>
              </a:rPr>
              <a:t>Model : Linear Regression </a:t>
            </a:r>
          </a:p>
          <a:p>
            <a:pPr fontAlgn="base"/>
            <a:r>
              <a:rPr lang="en-US" dirty="0">
                <a:latin typeface="Inter"/>
              </a:rPr>
              <a:t>X = streams, </a:t>
            </a:r>
            <a:r>
              <a:rPr lang="en-US" dirty="0">
                <a:solidFill>
                  <a:srgbClr val="FF0000"/>
                </a:solidFill>
                <a:latin typeface="Inter"/>
              </a:rPr>
              <a:t>artist(?), country(?)</a:t>
            </a:r>
          </a:p>
          <a:p>
            <a:pPr fontAlgn="base"/>
            <a:r>
              <a:rPr lang="en-US" dirty="0">
                <a:latin typeface="Inter"/>
              </a:rPr>
              <a:t>Y = position(Rank)</a:t>
            </a:r>
          </a:p>
          <a:p>
            <a:pPr fontAlgn="base"/>
            <a:endParaRPr lang="en-US" dirty="0">
              <a:latin typeface="Inter"/>
            </a:endParaRPr>
          </a:p>
          <a:p>
            <a:pPr fontAlgn="base"/>
            <a:r>
              <a:rPr lang="en-US" dirty="0">
                <a:solidFill>
                  <a:srgbClr val="FF0000"/>
                </a:solidFill>
                <a:latin typeface="Inter"/>
              </a:rPr>
              <a:t>Can I build a simple app like what you showed thru flask (Input: name of artist, streams, country I Output: Rank) </a:t>
            </a:r>
          </a:p>
          <a:p>
            <a:pPr fontAlgn="base"/>
            <a:r>
              <a:rPr lang="en-US" dirty="0">
                <a:solidFill>
                  <a:srgbClr val="FF0000"/>
                </a:solidFill>
                <a:latin typeface="Inter"/>
              </a:rPr>
              <a:t>Can I build a real-time dashboard? Even if it’s not real-time just live online with filters? </a:t>
            </a:r>
          </a:p>
          <a:p>
            <a:pPr fontAlgn="base"/>
            <a:endParaRPr lang="en-US" dirty="0">
              <a:solidFill>
                <a:srgbClr val="FF0000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16537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392</Words>
  <Application>Microsoft Macintosh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Inter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Mori Esam</dc:creator>
  <cp:lastModifiedBy>Mori Esam</cp:lastModifiedBy>
  <cp:revision>14</cp:revision>
  <dcterms:created xsi:type="dcterms:W3CDTF">2020-02-05T19:23:32Z</dcterms:created>
  <dcterms:modified xsi:type="dcterms:W3CDTF">2020-02-22T19:32:00Z</dcterms:modified>
</cp:coreProperties>
</file>